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e4542062e74239" /><Relationship Type="http://schemas.openxmlformats.org/officeDocument/2006/relationships/extended-properties" Target="/docProps/app.xml" Id="Re78d0e0b91ef4cae" /><Relationship Type="http://schemas.openxmlformats.org/officeDocument/2006/relationships/officeDocument" Target="/ppt/presentation.xml" Id="R1b7d1b9385994a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fe7e550aa74f61"/>
  </p:sldMasterIdLst>
  <p:notesMasterIdLst>
    <p:notesMasterId xmlns:r="http://schemas.openxmlformats.org/officeDocument/2006/relationships" r:id="Rb67c261642d248b2"/>
  </p:notesMasterIdLst>
  <p:sldIdLst>
    <p:sldId xmlns:r="http://schemas.openxmlformats.org/officeDocument/2006/relationships" id="256" r:id="R88acc9fa93654bbf"/>
    <p:sldId xmlns:r="http://schemas.openxmlformats.org/officeDocument/2006/relationships" id="257" r:id="R8d020fc4c5544ebf"/>
    <p:sldId xmlns:r="http://schemas.openxmlformats.org/officeDocument/2006/relationships" id="258" r:id="R4a13cc71068844c4"/>
    <p:sldId xmlns:r="http://schemas.openxmlformats.org/officeDocument/2006/relationships" id="259" r:id="R30a4b1b82f764bfe"/>
    <p:sldId xmlns:r="http://schemas.openxmlformats.org/officeDocument/2006/relationships" id="260" r:id="Rff09897e2c774bd9"/>
    <p:sldId xmlns:r="http://schemas.openxmlformats.org/officeDocument/2006/relationships" id="261" r:id="R82817e308fea43c1"/>
    <p:sldId xmlns:r="http://schemas.openxmlformats.org/officeDocument/2006/relationships" id="262" r:id="Rcd0ecbcd9f6b4660"/>
    <p:sldId xmlns:r="http://schemas.openxmlformats.org/officeDocument/2006/relationships" id="263" r:id="R89e430dff2a24cb6"/>
    <p:sldId xmlns:r="http://schemas.openxmlformats.org/officeDocument/2006/relationships" id="264" r:id="Re6b080ead0c64201"/>
    <p:sldId xmlns:r="http://schemas.openxmlformats.org/officeDocument/2006/relationships" id="265" r:id="R57f2ea0491504d42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003d63a8d34c0d" /><Relationship Type="http://schemas.openxmlformats.org/officeDocument/2006/relationships/slideMaster" Target="/ppt/slideMasters/slideMaster1.xml" Id="Rebfe7e550aa74f61" /><Relationship Type="http://schemas.openxmlformats.org/officeDocument/2006/relationships/notesMaster" Target="/ppt/notesMasters/notesMaster1.xml" Id="Rb67c261642d248b2" /><Relationship Type="http://schemas.openxmlformats.org/officeDocument/2006/relationships/presProps" Target="/ppt/presProps.xml" Id="Rcd5873f7f26b45dc" /><Relationship Type="http://schemas.openxmlformats.org/officeDocument/2006/relationships/tableStyles" Target="/ppt/tableStyles.xml" Id="R4f6b67c73126467f" /><Relationship Type="http://schemas.openxmlformats.org/officeDocument/2006/relationships/slide" Target="/ppt/slides/slide1.xml" Id="R88acc9fa93654bbf" /><Relationship Type="http://schemas.openxmlformats.org/officeDocument/2006/relationships/slide" Target="/ppt/slides/slide2.xml" Id="R8d020fc4c5544ebf" /><Relationship Type="http://schemas.openxmlformats.org/officeDocument/2006/relationships/slide" Target="/ppt/slides/slide3.xml" Id="R4a13cc71068844c4" /><Relationship Type="http://schemas.openxmlformats.org/officeDocument/2006/relationships/slide" Target="/ppt/slides/slide4.xml" Id="R30a4b1b82f764bfe" /><Relationship Type="http://schemas.openxmlformats.org/officeDocument/2006/relationships/slide" Target="/ppt/slides/slide5.xml" Id="Rff09897e2c774bd9" /><Relationship Type="http://schemas.openxmlformats.org/officeDocument/2006/relationships/slide" Target="/ppt/slides/slide6.xml" Id="R82817e308fea43c1" /><Relationship Type="http://schemas.openxmlformats.org/officeDocument/2006/relationships/slide" Target="/ppt/slides/slide7.xml" Id="Rcd0ecbcd9f6b4660" /><Relationship Type="http://schemas.openxmlformats.org/officeDocument/2006/relationships/slide" Target="/ppt/slides/slide8.xml" Id="R89e430dff2a24cb6" /><Relationship Type="http://schemas.openxmlformats.org/officeDocument/2006/relationships/slide" Target="/ppt/slides/slide9.xml" Id="Re6b080ead0c64201" /><Relationship Type="http://schemas.openxmlformats.org/officeDocument/2006/relationships/slide" Target="/ppt/slides/slide10.xml" Id="R57f2ea0491504d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b54f39fec146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785e88f7d54f30" /><Relationship Type="http://schemas.openxmlformats.org/officeDocument/2006/relationships/notesMaster" Target="/ppt/notesMasters/notesMaster1.xml" Id="R64f94494107941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48017162764d02" /><Relationship Type="http://schemas.openxmlformats.org/officeDocument/2006/relationships/notesMaster" Target="/ppt/notesMasters/notesMaster1.xml" Id="R803ee0b1794b4a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11869585d14fd7" /><Relationship Type="http://schemas.openxmlformats.org/officeDocument/2006/relationships/notesMaster" Target="/ppt/notesMasters/notesMaster1.xml" Id="Rd5bb2f6f5a5440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4d82c09c474dbc" /><Relationship Type="http://schemas.openxmlformats.org/officeDocument/2006/relationships/notesMaster" Target="/ppt/notesMasters/notesMaster1.xml" Id="R539c04ac106247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d7d564f99247de" /><Relationship Type="http://schemas.openxmlformats.org/officeDocument/2006/relationships/notesMaster" Target="/ppt/notesMasters/notesMaster1.xml" Id="Re6bf728656504f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db2d95f90f4d0e" /><Relationship Type="http://schemas.openxmlformats.org/officeDocument/2006/relationships/notesMaster" Target="/ppt/notesMasters/notesMaster1.xml" Id="R5481541901f147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37ab57d97b4fe9" /><Relationship Type="http://schemas.openxmlformats.org/officeDocument/2006/relationships/notesMaster" Target="/ppt/notesMasters/notesMaster1.xml" Id="Rab76b2e752a84f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300553cd204369" /><Relationship Type="http://schemas.openxmlformats.org/officeDocument/2006/relationships/notesMaster" Target="/ppt/notesMasters/notesMaster1.xml" Id="R91d88dfb9e4649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16da7c032140aa" /><Relationship Type="http://schemas.openxmlformats.org/officeDocument/2006/relationships/notesMaster" Target="/ppt/notesMasters/notesMaster1.xml" Id="R2df96c67642c40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27d3cf6e2a4075" /><Relationship Type="http://schemas.openxmlformats.org/officeDocument/2006/relationships/notesMaster" Target="/ppt/notesMasters/notesMaster1.xml" Id="R48ed2c87b1504c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https://arxiv.org/html/2003.02320</a:t>
            </a:r>
          </a:p>
          <a:p xmlns:a="http://schemas.openxmlformats.org/drawingml/2006/main">
            <a:r>
              <a:t>- https://www.ibm.com/think/topics/context-graph</a:t>
            </a:r>
          </a:p>
          <a:p xmlns:a="http://schemas.openxmlformats.org/drawingml/2006/main">
            <a:r>
              <a:t>- https://github.com/AreevAI/areev/blob/main/README.md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term context graph is emerging and is defined operationally in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https://arxiv.org/html/2003.02320</a:t>
            </a:r>
          </a:p>
          <a:p xmlns:a="http://schemas.openxmlformats.org/drawingml/2006/main">
            <a:r>
              <a:t>- https://arxiv.org/abs/2406.11160</a:t>
            </a:r>
          </a:p>
          <a:p xmlns:a="http://schemas.openxmlformats.org/drawingml/2006/main">
            <a:r>
              <a:t>- https://www.ibm.com/think/topics/context-graph</a:t>
            </a:r>
          </a:p>
          <a:p xmlns:a="http://schemas.openxmlformats.org/drawingml/2006/main">
            <a:r>
              <a:t>- https://www.w3.org/groups/cg/context-graph/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https://arxiv.org/html/2003.02320</a:t>
            </a:r>
          </a:p>
          <a:p xmlns:a="http://schemas.openxmlformats.org/drawingml/2006/main">
            <a:r>
              <a:t>- https://github.com/AreevAI/areev/blob/main/README.md</a:t>
            </a:r>
          </a:p>
          <a:p xmlns:a="http://schemas.openxmlformats.org/drawingml/2006/main">
            <a:r>
              <a:t>- /Users/sathish/mg/products/areev/demo/screens/graph-light.png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https://arxiv.org/html/2003.02320</a:t>
            </a:r>
          </a:p>
          <a:p xmlns:a="http://schemas.openxmlformats.org/drawingml/2006/main">
            <a:r>
              <a:t>- https://arxiv.org/abs/2406.11160</a:t>
            </a:r>
          </a:p>
          <a:p xmlns:a="http://schemas.openxmlformats.org/drawingml/2006/main">
            <a:r>
              <a:t>- https://www.ibm.com/think/topics/context-graph</a:t>
            </a:r>
          </a:p>
          <a:p xmlns:a="http://schemas.openxmlformats.org/drawingml/2006/main">
            <a:r>
              <a:t>- https://foundationcapital.com/ideas/context-graphs-ais-trillion-dollar-opportunity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https://arxiv.org/abs/2406.11160</a:t>
            </a:r>
          </a:p>
          <a:p xmlns:a="http://schemas.openxmlformats.org/drawingml/2006/main">
            <a:r>
              <a:t>- https://www.ibm.com/think/topics/context-graph</a:t>
            </a:r>
          </a:p>
          <a:p xmlns:a="http://schemas.openxmlformats.org/drawingml/2006/main">
            <a:r>
              <a:t>- https://foundationcapital.com/ideas/context-graphs-ais-trillion-dollar-opportunity</a:t>
            </a:r>
          </a:p>
          <a:p xmlns:a="http://schemas.openxmlformats.org/drawingml/2006/main">
            <a:r>
              <a:t>- https://github.com/AreevAI/areev/blob/main/README.md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https://arxiv.org/html/2003.02320</a:t>
            </a:r>
          </a:p>
          <a:p xmlns:a="http://schemas.openxmlformats.org/drawingml/2006/main">
            <a:r>
              <a:t>- https://arxiv.org/abs/2406.11160</a:t>
            </a:r>
          </a:p>
          <a:p xmlns:a="http://schemas.openxmlformats.org/drawingml/2006/main">
            <a:r>
              <a:t>- https://www.ibm.com/think/topics/context-graph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https://arxiv.org/html/2003.02320</a:t>
            </a:r>
          </a:p>
          <a:p xmlns:a="http://schemas.openxmlformats.org/drawingml/2006/main">
            <a:r>
              <a:t>- https://www.ibm.com/think/topics/context-graph</a:t>
            </a:r>
          </a:p>
          <a:p xmlns:a="http://schemas.openxmlformats.org/drawingml/2006/main">
            <a:r>
              <a:t>- https://github.com/AreevAI/areev/blob/main/README.md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Illustrative scenario. It demonstrates how operational context can change an action without changing the underlying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https://www.ibm.com/think/topics/context-graph</a:t>
            </a:r>
          </a:p>
          <a:p xmlns:a="http://schemas.openxmlformats.org/drawingml/2006/main">
            <a:r>
              <a:t>- https://github.com/AreevAI/areev/blob/main/README.md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https://www.ibm.com/think/topics/context-graph</a:t>
            </a:r>
          </a:p>
          <a:p xmlns:a="http://schemas.openxmlformats.org/drawingml/2006/main">
            <a:r>
              <a:t>- https://foundationcapital.com/ideas/context-graphs-ais-trillion-dollar-opportunity</a:t>
            </a:r>
          </a:p>
          <a:p xmlns:a="http://schemas.openxmlformats.org/drawingml/2006/main">
            <a:r>
              <a:t>- https://github.com/AreevAI/areev/blob/main/README.md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https://arxiv.org/html/2003.02320</a:t>
            </a:r>
          </a:p>
          <a:p xmlns:a="http://schemas.openxmlformats.org/drawingml/2006/main">
            <a:r>
              <a:t>- https://www.ibm.com/think/topics/context-graph</a:t>
            </a:r>
          </a:p>
          <a:p xmlns:a="http://schemas.openxmlformats.org/drawingml/2006/main">
            <a:r>
              <a:t>- https://github.com/AreevAI/areev/blob/main/README.md</a:t>
            </a:r>
          </a:p>
          <a:p xmlns:a="http://schemas.openxmlformats.org/drawingml/2006/main">
            <a:r>
              <a:t>- https://github.githubassets.com/images/modules/logos_page/GitHub-Mark.png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4b65b330c4c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2cd5dbaedc4af3" /><Relationship Type="http://schemas.openxmlformats.org/officeDocument/2006/relationships/slideLayout" Target="/ppt/slideLayouts/slideLayout1.xml" Id="R4e425d82bbc94d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425d82bbc94d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935bf837e4607" /><Relationship Type="http://schemas.openxmlformats.org/officeDocument/2006/relationships/image" Target="/ppt/media/image.png" Id="Rb470417ebae04f25" /><Relationship Type="http://schemas.openxmlformats.org/officeDocument/2006/relationships/image" Target="/ppt/media/image2.png" Id="R844107edf02045b0" /><Relationship Type="http://schemas.openxmlformats.org/officeDocument/2006/relationships/notesSlide" Target="/ppt/notesSlides/notesSlide1.xml" Id="Ra03c848b312146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14f23ed6f40cf" /><Relationship Type="http://schemas.openxmlformats.org/officeDocument/2006/relationships/image" Target="/ppt/media/image3.png" Id="R4421546a14164547" /><Relationship Type="http://schemas.openxmlformats.org/officeDocument/2006/relationships/notesSlide" Target="/ppt/notesSlides/notesSlide2.xml" Id="R85bb85b5736e40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99d2416bf4e29" /><Relationship Type="http://schemas.openxmlformats.org/officeDocument/2006/relationships/image" Target="/ppt/media/image4.png" Id="R1508a9f4e3d84e69" /><Relationship Type="http://schemas.openxmlformats.org/officeDocument/2006/relationships/image" Target="/ppt/media/image5.png" Id="R989c29ab985e4715" /><Relationship Type="http://schemas.openxmlformats.org/officeDocument/2006/relationships/notesSlide" Target="/ppt/notesSlides/notesSlide3.xml" Id="Rde6da7acbb4847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67675f31d45ca" /><Relationship Type="http://schemas.openxmlformats.org/officeDocument/2006/relationships/image" Target="/ppt/media/image6.png" Id="R541ac91f83744ae2" /><Relationship Type="http://schemas.openxmlformats.org/officeDocument/2006/relationships/notesSlide" Target="/ppt/notesSlides/notesSlide4.xml" Id="R0db6ed960c0345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00c4a13e44116" /><Relationship Type="http://schemas.openxmlformats.org/officeDocument/2006/relationships/image" Target="/ppt/media/image7.png" Id="R8ea748e9075449fe" /><Relationship Type="http://schemas.openxmlformats.org/officeDocument/2006/relationships/notesSlide" Target="/ppt/notesSlides/notesSlide5.xml" Id="R09d4bfe940af4c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53ad03b224eb5" /><Relationship Type="http://schemas.openxmlformats.org/officeDocument/2006/relationships/image" Target="/ppt/media/image8.png" Id="R907dbf287d73439e" /><Relationship Type="http://schemas.openxmlformats.org/officeDocument/2006/relationships/notesSlide" Target="/ppt/notesSlides/notesSlide6.xml" Id="R8032ea3fc7644c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e94f280484160" /><Relationship Type="http://schemas.openxmlformats.org/officeDocument/2006/relationships/image" Target="/ppt/media/image9.png" Id="R1d6051c32e9f4dac" /><Relationship Type="http://schemas.openxmlformats.org/officeDocument/2006/relationships/notesSlide" Target="/ppt/notesSlides/notesSlide7.xml" Id="Ra9e9cb472b6848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e1db91dea4bea" /><Relationship Type="http://schemas.openxmlformats.org/officeDocument/2006/relationships/image" Target="/ppt/media/image10.png" Id="Rce1e2e00b6a34d51" /><Relationship Type="http://schemas.openxmlformats.org/officeDocument/2006/relationships/notesSlide" Target="/ppt/notesSlides/notesSlide8.xml" Id="R4bfa2cd3c39f48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7d16c45f546b9" /><Relationship Type="http://schemas.openxmlformats.org/officeDocument/2006/relationships/image" Target="/ppt/media/image11.png" Id="Rf8878545342844be" /><Relationship Type="http://schemas.openxmlformats.org/officeDocument/2006/relationships/notesSlide" Target="/ppt/notesSlides/notesSlide9.xml" Id="R116edd9fc79741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b114af8264101" /><Relationship Type="http://schemas.openxmlformats.org/officeDocument/2006/relationships/image" Target="/ppt/media/image12.png" Id="R7d113a25cd744ff2" /><Relationship Type="http://schemas.openxmlformats.org/officeDocument/2006/relationships/image" Target="/ppt/media/image13.png" Id="R1eb7a02291984608" /><Relationship Type="http://schemas.openxmlformats.org/officeDocument/2006/relationships/image" Target="/ppt/media/image14.png" Id="R5f6ce5ec02f84560" /><Relationship Type="http://schemas.openxmlformats.org/officeDocument/2006/relationships/notesSlide" Target="/ppt/notesSlides/notesSlide10.xml" Id="R7955750adcea4a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0417ebae04f25"/>
          <a:stretch xmlns:a="http://schemas.openxmlformats.org/drawingml/2006/main"/>
        </p:blipFill>
        <p:spPr>
          <a:xfrm xmlns:a="http://schemas.openxmlformats.org/drawingml/2006/main">
            <a:off x="685800" y="560858"/>
            <a:ext cx="1600200" cy="51658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27176-4A38-44CA-AD5D-65B6FE71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A PRACTICAL GUIDE FOR AI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0E73D-9A6B-4BB4-BCC1-EF56D46C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8915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Context 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65FF5-4C05-4B40-A95E-3BFA5552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vs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9BB3D-7697-4F13-A495-585ECD9C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8915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Knowledge 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06520-719D-47E2-A856-2D77273D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E6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3DD8E-7474-44E5-B6A9-01F71D9C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maps what is known.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other assembles what matters now.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2697B-0E02-400D-8153-AF3AC733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392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Swipe →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107edf02045b0"/>
          <a:stretch xmlns:a="http://schemas.openxmlformats.org/drawingml/2006/main"/>
        </p:blipFill>
        <p:spPr>
          <a:xfrm xmlns:a="http://schemas.openxmlformats.org/drawingml/2006/main">
            <a:off x="685800" y="9677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9B5C8-926A-4305-A6CA-04B90357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8107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7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D5F97-A517-4D6B-B2FC-14A5A88F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774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490032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44FCC-CF72-48B0-BC23-7B2938A7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START WITH THE 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49F4E-EE15-4BB5-8E4C-213A18D7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15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They answer different questions.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8EB06-00D4-4AFA-9251-50FAD9B5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229100" cy="51435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029E0-DE2E-4F10-A5E5-6F80FA63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4229100" cy="51435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BFD2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115DE-51F2-4110-B388-099EAC3C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KNOWLEDGE 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498F1-E5E0-4ABC-BF51-01E7CDEB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exists - and how is it connected?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77377-622B-4788-9856-607C1ADC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308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E6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F06F8-1354-4182-9953-DBCE2826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57875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ENTITIES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RELATIONSHIPS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2386C-49B2-4EDB-8D31-6C82A34B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CONTEXT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F06A6-51B8-474B-9F5F-9F137672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43300"/>
            <a:ext cx="342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matters now - for this task, policy, and time?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B8499-7EC0-49F8-9ECB-277EE5E8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00700"/>
            <a:ext cx="308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2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48768-40F4-44CF-9781-922A3B93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48375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INTENT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STATE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EVIDENCE + CONSTRAINTS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DF63B-77D9-4841-BD43-1746E617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0"/>
            <a:ext cx="8915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'Context graph' is an emerging term. Here, it means the execution-time view an agent acts from.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1546a14164547"/>
          <a:stretch xmlns:a="http://schemas.openxmlformats.org/drawingml/2006/main"/>
        </p:blipFill>
        <p:spPr>
          <a:xfrm xmlns:a="http://schemas.openxmlformats.org/drawingml/2006/main">
            <a:off x="685800" y="9677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EBD4D-2B30-483E-8AF9-E8DBE5E8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8107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7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AC6B2-3EAB-4796-B972-B00BEBFF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774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1706720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93834-DE0E-4F4A-A608-F159D62E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THE DURABLE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04119-29FA-40A0-A62E-F27242D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1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Knowledge graphs make meaning durable.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D0604-CF37-4FBC-99E9-A9CACF7B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Entities + relationships + typed 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CD0F7-85E6-4D64-BD8D-9DE48332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8915400" cy="5810250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8a9f4e3d84e69"/>
          <a:srcRect xmlns:a="http://schemas.openxmlformats.org/drawingml/2006/main" l="0" t="5357" r="0" b="5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952750"/>
            <a:ext cx="8534400" cy="4762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2E510-1F41-4CDE-B3ED-35BC8F73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15150"/>
            <a:ext cx="342900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461E9-596A-42F8-B1E9-22C127F1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437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QUERY THE CONNECTIONS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3C321-980F-480C-8A30-A4CFF706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543800"/>
            <a:ext cx="2933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Walk the graph.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Rewind the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C3BAA-2B10-4796-998D-A679C71D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10625"/>
            <a:ext cx="891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Good for integration, discovery, analytics, recommendations, and multi-hop reasoning.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c29ab985e4715"/>
          <a:stretch xmlns:a="http://schemas.openxmlformats.org/drawingml/2006/main"/>
        </p:blipFill>
        <p:spPr>
          <a:xfrm xmlns:a="http://schemas.openxmlformats.org/drawingml/2006/main">
            <a:off x="685800" y="9677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6DFC2-60AA-4FB4-88FE-E6B2CD61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8107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7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A1AC5-B287-40BB-9E3E-99CE4D14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774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496555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D45E9-80B0-4E97-A36C-89AD7A4F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WHERE FACTS STOP BEING ENOUGH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A7F97-53B4-4497-9556-8A8F0508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15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 action depends on more than the domain map.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42E7A-7816-4C59-87B2-9079354C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2291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1A1DA-048D-45EA-B714-FF093ECA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44272-3C9F-48B7-AA4A-B602339B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7BD42-2DC4-4C0D-B99B-98071152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733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Which version is valid now?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D1F9C-D329-4F5C-9756-EB20E331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42291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81AFE-7679-4911-AE08-6024262F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6DAED-2320-429D-B999-D85C1303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00350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PROVENANCE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D11D6-42C4-4EB7-8CF8-668C18CC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3733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Where did this belief come from?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321A1-495B-43DD-9490-520FBBF7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2291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5528B-2722-4437-A704-26FB67CA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250A3-E8A8-440B-B50F-37A123F9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6B2F9-E011-459D-BF9D-E360D642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3733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happened in this run?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05A69-593D-4C30-AF10-67A14A51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72050"/>
            <a:ext cx="42291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02425-EC96-43A0-BD94-EDE69A43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720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2AE19-4405-4B12-8817-FE8E744E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00650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AUTHORITY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B122D-B9B5-4D47-89B1-FB15C000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38800"/>
            <a:ext cx="3733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Who may approve this action?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44151-5E91-4D0C-AAE0-BAB6D5E8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390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same fact can be </a:t>
            </a:r>
            <a:r>
              <a:rPr sz="25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relevant</a:t>
            </a:r>
            <a:r>
              <a:rPr sz="25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, stale, forbidden - or too costly to include.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ac91f83744ae2"/>
          <a:stretch xmlns:a="http://schemas.openxmlformats.org/drawingml/2006/main"/>
        </p:blipFill>
        <p:spPr>
          <a:xfrm xmlns:a="http://schemas.openxmlformats.org/drawingml/2006/main">
            <a:off x="685800" y="9677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256AF-D46B-44B7-BFB9-A0C70660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8107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72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E7F75-E16C-40DE-9441-CF39980D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774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1836643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E940DE-C475-407A-83DA-867F0B08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THE RUNTIME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8E834-96E0-4F3F-B121-61FD4F09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15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context graph adds the situation around the facts.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437D0-6F80-4EB6-BA1B-BD420B6E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8915400" cy="5953125"/>
          </a:xfrm>
          <a:prstGeom xmlns:a="http://schemas.openxmlformats.org/drawingml/2006/main" prst="roundRect">
            <a:avLst>
              <a:gd name="adj" fmla="val 448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23813">
            <a:solidFill>
              <a:srgbClr val="BFD2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AB70B-D316-4AD5-8FCC-0E0F0F7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CONTEXT 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BA396-7F28-4E15-B2CC-138EE414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Execution-time activation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CD674-8505-4F42-8EED-E164EFE5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67200"/>
            <a:ext cx="3429000" cy="14478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12271-1050-4F75-8068-D52EC619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9105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KNOWLEDGE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72D34-AE8A-495F-8B47-59D2F655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7579D-CED6-431D-A1BD-30CC1AB6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0B225-1409-4B7E-B0FA-C800AFA0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CURRENT 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A6790-2B37-41E7-B477-B2083413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is the goal?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CA38C-9139-4B6B-BB87-3C22AA8C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1B45C-3323-4B07-AD2D-C12AF1F9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03998-A963-4216-A04B-23C2DA79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052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HISTORY +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26B46-9E48-4842-B849-1AECE559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481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changed?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A4362-B073-49C9-8224-A98A3185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254EE-B572-4DC3-8227-BB59E25D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A7AF5-3575-4621-8A2A-F1F75CA5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244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67B98-E778-4539-A024-D67CAC88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73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believe it?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3A038-FDBE-4598-AC09-B39C592D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B1ABD-A35F-4604-9387-171F4FA2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2EAA4-F843-4E73-B0F4-1210ED1A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244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9D3A6-DF22-42FD-9B4E-5D4B561B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673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Where are we?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24F5D-5468-4825-AADB-C01E2397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572250"/>
            <a:ext cx="2476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9E0470-5A71-4369-80CB-A1459A81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5722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9F105-5687-4F4D-89DB-2D17BFFB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7437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PERMISSIONS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61495-C407-4C12-9ADA-4B0D18C5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0866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is allowed?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B1B4F-B3D2-4670-BB8C-B5F1BCCB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72250"/>
            <a:ext cx="2476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B13725-71B3-4232-8556-0639D62D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722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372960-94D9-4A46-A44F-687DBE17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7437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BUDGET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D9940-F194-4C52-ADD8-4B3586C6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0866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can fit?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9A9B5B-3BC4-47C4-9CE3-43A7CD0F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58250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Not a second graph database. A decision-ready view.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748e9075449fe"/>
          <a:stretch xmlns:a="http://schemas.openxmlformats.org/drawingml/2006/main"/>
        </p:blipFill>
        <p:spPr>
          <a:xfrm xmlns:a="http://schemas.openxmlformats.org/drawingml/2006/main">
            <a:off x="685800" y="9677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0CA4CB-3F3D-46B2-8986-3B3BD2D3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8107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72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74D425-3722-4E21-B902-FE2BBB86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774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760294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383F3D-7A74-48F2-A228-BED9C9C9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SIDE BY SIDE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A7D9C-965A-40D0-BE4E-6D7539CD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15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difference is purpose - not storage technology.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6932C-0856-466F-A4F2-5F04CC85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8915400" cy="6400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51803-EA85-4A1B-A229-9FD366A7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891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557FD-7043-4379-82AC-F4F5B8FF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854A3-B589-4478-ADB8-765F9F04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KNOWLEDGE 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CD213-C0C9-422A-AFB7-ED8BD619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CONTEXT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9FC13-1A08-4127-880B-13250C9C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PRIMARY JOB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4D3A2-7ED6-4B7C-B364-AD6C0673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480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Represent durable 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278AA-E55E-4C7D-B116-6DD7860C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Assemble situational relevance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21668-F30E-4BB3-A1D0-10A774EB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8877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EA9C9-3862-45B1-AB2A-908768A6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887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3E6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CA095-4A39-4A12-A1E0-55279AB1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TYPICAL UNIT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E5AFB-E8C0-4CFD-A5EF-0A434CCA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Entity-relation-entity 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2A8AE-647D-48F5-8624-6D77DA14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Contextualized fact, event, or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19178-4EE1-452C-8439-8ECE239B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887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3E6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067A9-B6BA-4DD6-9B09-F4FEFA8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D650D-B6B7-45BD-82E3-0C5CC887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Long-lived domain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3AC99-B91F-4E48-A2EF-34C2E0C4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This task, turn, or 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EE469-3BB8-4859-827A-27B820F0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8877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70ECF-946A-4F5D-AC43-8B788BA1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887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3E6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0B695-4B55-434D-933D-9AD08FE4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7818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EDGES EMPHASIZE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EDCE32-A02D-4795-982B-871CACB7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7056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Semantic relationships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F2FA7-6E30-4DDE-B45C-9FCF81CC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70560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Temporal, causal, operational,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E3B86-A6D7-4AC3-BF77-3FCF8DB8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43800"/>
            <a:ext cx="887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3E6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46188-A80D-453E-B0C4-D5DAC9F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676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C5D944-1972-4E5C-91C7-675A48FF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791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Queryable subgraph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287F29-7CB3-4108-9C0F-231777FE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79145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Budget-shaped context for a 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0E43BB-F3B8-4153-B68E-3F2183E0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10650"/>
            <a:ext cx="891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Both can live in the same underlying graph and store.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dbf287d73439e"/>
          <a:stretch xmlns:a="http://schemas.openxmlformats.org/drawingml/2006/main"/>
        </p:blipFill>
        <p:spPr>
          <a:xfrm xmlns:a="http://schemas.openxmlformats.org/drawingml/2006/main">
            <a:off x="685800" y="9677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C3D4F5-3A6E-4016-90FE-9787891F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8107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72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5C6D55-5E3F-41DA-9C98-AAED92D7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774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11707566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A022B7-8D7A-485F-80ED-909E9D8D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ILLUSTRATIVE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CDA02-B218-489C-95C2-765CDE4F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15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Should the agent pay this invoice?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2629D-7EDB-4865-BE05-82F19A4F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THE KNOWLEDGE GRAPH KNOWS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AAC3A-0102-424A-B0B4-1B690135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81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THE CONTEXT GRAPH ADDS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FAB38-77FA-4926-9E4C-3F4901C0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229100" cy="47625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293C1-C41A-4F5F-B353-407AA007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4229100" cy="47625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1FE"/>
          </a:solidFill>
          <a:ln xmlns:a="http://schemas.openxmlformats.org/drawingml/2006/main" w="19050">
            <a:solidFill>
              <a:srgbClr val="BFD2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D14AD-C25C-4979-9E4F-BF1C80B5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2190C-4B29-4B0F-AC1E-81FAF77B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14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Acme is an approved vendor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BD8AA-889A-4F10-9FA9-9027AB70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3E6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69483-15F4-4C9C-9E1D-122B3B18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FCC8F-52FE-403C-BA77-5F95FAC6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Invoice total is $24,700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9C090-FDFF-4424-A51B-7C5DE641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3E6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700C3-311C-48AB-8856-BED379C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38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28C2B-B32E-4EDE-B7D4-AC4B729A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578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Dev is the approver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60AB5-5DEC-4085-A99F-BF21720C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43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3E6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5B193-C4D7-4FB3-8D63-C9227DE7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2103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F56CF-06E2-4751-B39A-1DEF88D6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293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Approval limit is $25,000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2EDB2-8A01-4F54-A73C-444AC5A5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F4E4C-251B-450E-B127-EFEFA53D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Bank details changed yesterday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58A75-7D6C-4506-86C7-133A1497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00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2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47810-2459-4BF9-8A41-3C2D9CDA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481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33AA40-2A8F-48E0-AFE4-D31E91E2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8625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prior run flagged a mismatch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F58690-FBEE-4496-9D2C-6B62BACC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720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2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CA0C1-2A47-4AA2-8B28-A5D33587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197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FAD8E-7037-485F-945E-C6097B93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5780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Dev's credential is valid now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F46A7F-BC8F-4D14-AF6C-B9FF9AEF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943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2F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EC649-996E-4D99-9F83-11AA6111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1912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20A2AC-8E76-402B-B814-34299F2D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22935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workflow is waiting on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E3F851-C673-409F-A6FA-42FE9A96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8915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176F8C-1172-4BE3-9FA4-6B0C8207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24850"/>
            <a:ext cx="815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Same knowledge. Different action: hold and escalate.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051c32e9f4dac"/>
          <a:stretch xmlns:a="http://schemas.openxmlformats.org/drawingml/2006/main"/>
        </p:blipFill>
        <p:spPr>
          <a:xfrm xmlns:a="http://schemas.openxmlformats.org/drawingml/2006/main">
            <a:off x="685800" y="9677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8C0342-3442-41C4-9AFD-BD7C45A7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8107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72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9AF423-0969-4EE0-AB89-0CEF9CFA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774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954544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465BB0-2D91-4EE4-A6D4-77AC5C86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FROM MEMORY TO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10B0A-A19C-4F35-99CA-CFE205AE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15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Retrieval finds candidates. Context assembly makes the call.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422F1-8CC3-4BF5-96EE-35998FFC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D2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782E8-CF56-4B72-963F-95EFE571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40B5C-F98D-4DB8-9902-6D4C6DB8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9154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BFD75-F8F4-48A8-9313-6A50148F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7810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25B67-14EB-4C09-B922-9DCF1964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CBDBE-59E1-40A1-8412-0DC42D88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19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2BD25-4A30-4AC6-A668-7A061BC6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623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Lexical, semantic, structural,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05210-F823-4F94-8935-D49CA889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197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D2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88320-7BA4-4023-A8D2-6D559FA2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76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75063-0C44-45EF-AAC1-8FB9E676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89154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48557-2969-4943-B5C9-9E9B7DD0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7810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3FF52-6921-45DB-BEAE-8C4A68CA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2E695-11E4-4524-9DB4-649807FF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24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49AE6-36D5-454D-8371-3760A953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672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Time, policy, provenance, permissions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0BC62-F4C8-43CE-916C-953FFC49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724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D2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46722-05B0-4D01-8BF6-25ABE54B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7818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43512-54FC-4D37-846D-72915DB9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89154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9F8C6-803D-4A18-8A45-64B4CE95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29300"/>
            <a:ext cx="7810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71E74-5DE8-4024-88CD-F8AAFDA4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8170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5FD65-4A44-42D0-894A-527685D6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829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0F063-4025-4ADD-BC7D-A6438A58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722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Task relevance, priority, diversity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D3B12-B48E-49AB-BEE9-EE67F59E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86600"/>
            <a:ext cx="89154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7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28AA68-CCEE-47FF-980C-750F6C1E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34250"/>
            <a:ext cx="7810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2E8"/>
          </a:solidFill>
          <a:ln xmlns:a="http://schemas.openxmlformats.org/drawingml/2006/main" w="14288">
            <a:solidFill>
              <a:srgbClr val="2F72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1E89F7-0EC6-4FE1-A89C-D5278F64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866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044E8-D8A9-4B18-8E5D-E67A639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7334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SHAPE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7C4907-84D4-4038-B799-1BFA24E4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76771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the model's token budget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CE8F8D-27D5-48B5-9376-12E55A8B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0"/>
            <a:ext cx="8915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B63DB3-E33D-411B-A0AC-5946BEFA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43950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MODEL-READY CONTEXT → ACTION → NEW EVIDENCE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e2e00b6a34d51"/>
          <a:stretch xmlns:a="http://schemas.openxmlformats.org/drawingml/2006/main"/>
        </p:blipFill>
        <p:spPr>
          <a:xfrm xmlns:a="http://schemas.openxmlformats.org/drawingml/2006/main">
            <a:off x="685800" y="9677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83ECA4-D61B-4E52-BCF8-748572C1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8107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72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3BA7DF-D02C-431C-BA83-914F6769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774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6581295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D5974-2ABB-4F6C-909A-056DAAD6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A PRACTICAL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2915A-0338-49BA-9AC0-3669DE2A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15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both when the system can 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A7777-816B-4D78-8002-A85CF1DC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229100" cy="48577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E3E6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39594-F524-4E82-BD09-C43CA25A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4229100" cy="48577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1FE"/>
          </a:solidFill>
          <a:ln xmlns:a="http://schemas.openxmlformats.org/drawingml/2006/main" w="19050">
            <a:solidFill>
              <a:srgbClr val="BFD2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22512-3B6F-49C6-AF77-752A3736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SEARCH + 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9BF4D-4CC8-41AB-BB58-CCF00F9D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knowledge graph may be enough.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B7AC8-088B-4A19-973C-47972ED3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Catalogs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2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Enterprise search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2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Analytics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2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Recommendations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5E534-60CE-41CF-8893-F9CA1E18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71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DECISIONS + 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B4695-B18A-454D-8B84-FA640283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242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Add a context graph.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68CC7-9DF0-4C6E-92A2-AC24333D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482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Agents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2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Workflow automation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2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Approvals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2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Triggers +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84288-FA2F-421F-9468-B487FACD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891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higher the consequence, the more context must be explicit.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78545342844be"/>
          <a:stretch xmlns:a="http://schemas.openxmlformats.org/drawingml/2006/main"/>
        </p:blipFill>
        <p:spPr>
          <a:xfrm xmlns:a="http://schemas.openxmlformats.org/drawingml/2006/main">
            <a:off x="685800" y="9677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9A8B4-1D95-4CE5-B247-82958AD1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8107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7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73490-6794-4E9B-A931-B5A99CD8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774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21124720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13a25cd744ff2"/>
          <a:stretch xmlns:a="http://schemas.openxmlformats.org/drawingml/2006/main"/>
        </p:blipFill>
        <p:spPr>
          <a:xfrm xmlns:a="http://schemas.openxmlformats.org/drawingml/2006/main">
            <a:off x="685800" y="560858"/>
            <a:ext cx="1600200" cy="51658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9578E-77A1-4728-A586-91E9B738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A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9A8FA"/>
                </a:solidFill>
                <a:latin typeface="Helvetica Neue"/>
                <a:ea typeface="Helvetica Neue"/>
                <a:cs typeface="Helvetica Neue"/>
              </a:rPr>
              <a:t>THE 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67630-2CD5-403D-B413-02F54412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91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Store facts as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3C32C-D69D-433D-B7DA-433D9ED4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915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B8C0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B8C0CC"/>
                </a:solidFill>
                <a:latin typeface="Helvetica Neue"/>
                <a:ea typeface="Helvetica Neue"/>
                <a:cs typeface="Helvetica Neue"/>
              </a:rPr>
              <a:t>knowledge graph.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0C415-56B4-47DB-846D-15CBC1C6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891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 agents on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16BDA-5AED-4524-B185-E8F3B444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8915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9A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79A8FA"/>
                </a:solidFill>
                <a:latin typeface="Helvetica Neue"/>
                <a:ea typeface="Helvetica Neue"/>
                <a:cs typeface="Helvetica Neue"/>
              </a:rPr>
              <a:t>context graph.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B30C5-E1BB-455E-908E-36FBD909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49DD9-5F37-4A29-B736-C12F15D7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675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See the implementation. Run the demo.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B64FA-B44A-49A2-8767-947988C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53350"/>
            <a:ext cx="8915400" cy="140970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72E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7a02291984608"/>
          <a:stretch xmlns:a="http://schemas.openxmlformats.org/drawingml/2006/main"/>
        </p:blipFill>
        <p:spPr>
          <a:xfrm xmlns:a="http://schemas.openxmlformats.org/drawingml/2006/main">
            <a:off x="1009650" y="81153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418B9-E666-4976-88A4-55EEA15B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79819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★ Star Areev on 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C1DF4-15D8-4752-B2F2-F6D152CF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85725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72E8"/>
                </a:solidFill>
                <a:latin typeface="Helvetica Neue"/>
                <a:ea typeface="Helvetica Neue"/>
                <a:cs typeface="Helvetica Neue"/>
              </a:rPr>
              <a:t>github.com/AreevAI/areev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ce5ec02f84560"/>
          <a:stretch xmlns:a="http://schemas.openxmlformats.org/drawingml/2006/main"/>
        </p:blipFill>
        <p:spPr>
          <a:xfrm xmlns:a="http://schemas.openxmlformats.org/drawingml/2006/main">
            <a:off x="685800" y="9677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D0BD4-C71F-4BC2-AF49-AF7158DF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8107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7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69E22-58DD-4886-8658-1AB41987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774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232671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2026-08-31T03:58:20.1150000Z</dcterms:created>
  <dcterms:modified xsi:type="dcterms:W3CDTF">2026-08-31T03:58:20.1150000Z</dcterms:modified>
</coreProperties>
</file>